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877bfbddb648cb" /><Relationship Type="http://schemas.openxmlformats.org/officeDocument/2006/relationships/extended-properties" Target="/docProps/app.xml" Id="R36dbe4c6ea4e4234" /><Relationship Type="http://schemas.openxmlformats.org/officeDocument/2006/relationships/officeDocument" Target="/ppt/presentation.xml" Id="Rd45fdbd319f74a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e78d7344ba4ac8"/>
  </p:sldMasterIdLst>
  <p:notesMasterIdLst>
    <p:notesMasterId xmlns:r="http://schemas.openxmlformats.org/officeDocument/2006/relationships" r:id="Rb722a75db1d74c71"/>
  </p:notesMasterIdLst>
  <p:sldIdLst>
    <p:sldId xmlns:r="http://schemas.openxmlformats.org/officeDocument/2006/relationships" id="256" r:id="Rb5e93980f6b0401e"/>
    <p:sldId xmlns:r="http://schemas.openxmlformats.org/officeDocument/2006/relationships" id="257" r:id="R39d1101cedb543bf"/>
    <p:sldId xmlns:r="http://schemas.openxmlformats.org/officeDocument/2006/relationships" id="258" r:id="Ra243d78607ef4643"/>
    <p:sldId xmlns:r="http://schemas.openxmlformats.org/officeDocument/2006/relationships" id="259" r:id="Ra4fe146eaa1c4413"/>
    <p:sldId xmlns:r="http://schemas.openxmlformats.org/officeDocument/2006/relationships" id="260" r:id="R30ebd5045cce4f0a"/>
    <p:sldId xmlns:r="http://schemas.openxmlformats.org/officeDocument/2006/relationships" id="261" r:id="R83534420a208431c"/>
    <p:sldId xmlns:r="http://schemas.openxmlformats.org/officeDocument/2006/relationships" id="262" r:id="R90b531847a95486d"/>
    <p:sldId xmlns:r="http://schemas.openxmlformats.org/officeDocument/2006/relationships" id="263" r:id="R07599ef64fbd4b69"/>
    <p:sldId xmlns:r="http://schemas.openxmlformats.org/officeDocument/2006/relationships" id="264" r:id="R4b3cdd25e88841ed"/>
    <p:sldId xmlns:r="http://schemas.openxmlformats.org/officeDocument/2006/relationships" id="265" r:id="R9e2a1941b32347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9b6f70410b4f57" /><Relationship Type="http://schemas.openxmlformats.org/officeDocument/2006/relationships/slideMaster" Target="/ppt/slideMasters/slideMaster1.xml" Id="R03e78d7344ba4ac8" /><Relationship Type="http://schemas.openxmlformats.org/officeDocument/2006/relationships/notesMaster" Target="/ppt/notesMasters/notesMaster1.xml" Id="Rb722a75db1d74c71" /><Relationship Type="http://schemas.openxmlformats.org/officeDocument/2006/relationships/presProps" Target="/ppt/presProps.xml" Id="R023aa43a8cbe47d8" /><Relationship Type="http://schemas.openxmlformats.org/officeDocument/2006/relationships/tableStyles" Target="/ppt/tableStyles.xml" Id="Rd2a9f4565fe74591" /><Relationship Type="http://schemas.openxmlformats.org/officeDocument/2006/relationships/slide" Target="/ppt/slides/slide1.xml" Id="Rb5e93980f6b0401e" /><Relationship Type="http://schemas.openxmlformats.org/officeDocument/2006/relationships/slide" Target="/ppt/slides/slide2.xml" Id="R39d1101cedb543bf" /><Relationship Type="http://schemas.openxmlformats.org/officeDocument/2006/relationships/slide" Target="/ppt/slides/slide3.xml" Id="Ra243d78607ef4643" /><Relationship Type="http://schemas.openxmlformats.org/officeDocument/2006/relationships/slide" Target="/ppt/slides/slide4.xml" Id="Ra4fe146eaa1c4413" /><Relationship Type="http://schemas.openxmlformats.org/officeDocument/2006/relationships/slide" Target="/ppt/slides/slide5.xml" Id="R30ebd5045cce4f0a" /><Relationship Type="http://schemas.openxmlformats.org/officeDocument/2006/relationships/slide" Target="/ppt/slides/slide6.xml" Id="R83534420a208431c" /><Relationship Type="http://schemas.openxmlformats.org/officeDocument/2006/relationships/slide" Target="/ppt/slides/slide7.xml" Id="R90b531847a95486d" /><Relationship Type="http://schemas.openxmlformats.org/officeDocument/2006/relationships/slide" Target="/ppt/slides/slide8.xml" Id="R07599ef64fbd4b69" /><Relationship Type="http://schemas.openxmlformats.org/officeDocument/2006/relationships/slide" Target="/ppt/slides/slide9.xml" Id="R4b3cdd25e88841ed" /><Relationship Type="http://schemas.openxmlformats.org/officeDocument/2006/relationships/slide" Target="/ppt/slides/slide10.xml" Id="R9e2a1941b32347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b7b1b1c1a340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3c2a7cac8848c7" /><Relationship Type="http://schemas.openxmlformats.org/officeDocument/2006/relationships/notesMaster" Target="/ppt/notesMasters/notesMaster1.xml" Id="Rf12a6612d59f42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df828c122244fb" /><Relationship Type="http://schemas.openxmlformats.org/officeDocument/2006/relationships/notesMaster" Target="/ppt/notesMasters/notesMaster1.xml" Id="R48a22492445646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4d495d48a84b9c" /><Relationship Type="http://schemas.openxmlformats.org/officeDocument/2006/relationships/notesMaster" Target="/ppt/notesMasters/notesMaster1.xml" Id="Re81c5c00039c45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1ca7b5e6564d90" /><Relationship Type="http://schemas.openxmlformats.org/officeDocument/2006/relationships/notesMaster" Target="/ppt/notesMasters/notesMaster1.xml" Id="R17ca6e2d9a6145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962edd45f84cb1" /><Relationship Type="http://schemas.openxmlformats.org/officeDocument/2006/relationships/notesMaster" Target="/ppt/notesMasters/notesMaster1.xml" Id="R79426abce23545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37cd4496c6464d" /><Relationship Type="http://schemas.openxmlformats.org/officeDocument/2006/relationships/notesMaster" Target="/ppt/notesMasters/notesMaster1.xml" Id="Re1e3c8c9d43d48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0c6677102b41ff" /><Relationship Type="http://schemas.openxmlformats.org/officeDocument/2006/relationships/notesMaster" Target="/ppt/notesMasters/notesMaster1.xml" Id="Rec5328f2fb9a43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b3e36af85549cf" /><Relationship Type="http://schemas.openxmlformats.org/officeDocument/2006/relationships/notesMaster" Target="/ppt/notesMasters/notesMaster1.xml" Id="R8107d1a4df6645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5eba22565c4adb" /><Relationship Type="http://schemas.openxmlformats.org/officeDocument/2006/relationships/notesMaster" Target="/ppt/notesMasters/notesMaster1.xml" Id="Ra384543562aa49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d8edfd7fed417f" /><Relationship Type="http://schemas.openxmlformats.org/officeDocument/2006/relationships/notesMaster" Target="/ppt/notesMasters/notesMaster1.xml" Id="R7003e8f0116c40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Protocol Lab: локальная лаборатория исследования недокументированных бинарных TCP/IPv4-протоколов. Источники: README.md, AGENTS.md и требования R1–R6 из задания. Иллюстрация обложки: абстрактное изображение, созданное ImageGen, не схема реального протокола.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docs/inference-a1.md, docs/inference-a4.md, docs/validation.md. Автоматический анализатор предлагает ограниченные кандидаты и сохраняет evidence. Discovery и holdout разделены. Поддержка детектора не означает универсальное распознавание протокола.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docs/tcp-reconstruction.md, docs/acceptance.md (этапы 3–4). Сессия является экземпляром TCP-соединения. Одинаковые повторы не удваивают payload. Пропуски и конфликтующие перекрытия сохраняются явно, без заполнения нулями.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docs/investigation.md, docs/ui-workspace.md. Поиск HEX/ASCII, сравнение диапазонов, CSV/JSON журнал действий с поправкой часов, ручные связи. Временная близость сама по себе не доказывает связь. Наблюдения имеют стабильные source/stream anchors.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docs/framing.md, docs/interpretations.md, docs/inference-a4.md. JSON Schema/Pydantic валидируют декларативную модель; Construct исполняет поля. Модель не исполняет произвольный код. Изменения создают immutable версии.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docs/validation.md, docs/portability.md, tests/fixtures/cli/length-model.json и expected.json. Иллюстрация основана на fixture length-big.pcap: правило constant n=3 даёт 1 passed и 2 failed, всего 15 bytes. Здесь не заявлен результат повторного запуска после правки. Технический лимит даёт unknown с диагностикой, а не опровержение протокольного правила.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docs/portability.md, docs/inference-a4.md. Bundle содержит consistent project-scoped PostgreSQL snapshot и content files. В актуальном расширении format 2 / metadata 0007, legacy format 1 поддержан. Restore требует локальную PostgreSQL и совместимые миграции. SHA-256 подтверждает целостность, не авторство.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docs/portability.md, README.md, backend/src/protocol_lab/cli/main.py. Команда показана из корня репозитория, имена входов примерные. CLI apply не требует PostgreSQL, API или браузера. Exit 0 означает завершённую проверку, а не отсутствие failed/unknown. Для воспроизводимых примеров используются tests/fixtures/cli/length-model.json, tests/fixtures/framing/length-big.pcap и tests/fixtures/cli/expected.json.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docs/architecture.md, backend/pyproject.toml, frontend/package.json, README.md. API имеет один Uvicorn process, background tasks используют локальные worker processes. Offline режим доступен после установки зависимостей. PostgreSQL является runtime DB.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пользовательские R1–R6, AGENTS.md, docs/acceptance.md, docs/reliability.md, docs/inference-a4.md. Это сценарий демонстрации, не утверждение о выполнении нового тестового прогона. Этап 10 ожидает ревью по документации. Native Linux SLA и суммарный RSS GUI/API/workers/DB не подтверждены. Автопоиск ограничен семействами правил и бюджетами.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98b4bd97134a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c2ccf88ce04b5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84f084add8483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6da00459b9480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6884fea2f444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e1f94b18e240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B025F7-DE18-4F4C-8A30-DA216DBC95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A4B5A07-2F30-4F77-B1AD-C803B192AB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FE5297B-A3A6-4DC0-ADA4-7D95475084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623A82-020F-464C-A082-C7E5EB7B65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E9FE47D-E552-4E7F-B71A-2B4D401358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F5474E-DC82-4AC6-9325-14911FF29E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417EB9-DD96-4714-9B31-FEF067B1DD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03B9744-8086-4C72-8C3F-AB3DF8524C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B84ED0-F5E6-457E-963C-9F75AFBF09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838E19-9DE9-4B00-967E-FC7DF778B0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26d72a9a004e66" /><Relationship Type="http://schemas.openxmlformats.org/officeDocument/2006/relationships/slideLayout" Target="/ppt/slideLayouts/slideLayout1.xml" Id="Re1c8268ffe984c2b" /><Relationship Type="http://schemas.openxmlformats.org/officeDocument/2006/relationships/slideLayout" Target="/ppt/slideLayouts/slideLayout2.xml" Id="R32890cd1558c4e94" /><Relationship Type="http://schemas.openxmlformats.org/officeDocument/2006/relationships/slideLayout" Target="/ppt/slideLayouts/slideLayout3.xml" Id="R52523208641a4289" /><Relationship Type="http://schemas.openxmlformats.org/officeDocument/2006/relationships/slideLayout" Target="/ppt/slideLayouts/slideLayout4.xml" Id="R9d67ddd4ef8c4222" /><Relationship Type="http://schemas.openxmlformats.org/officeDocument/2006/relationships/slideLayout" Target="/ppt/slideLayouts/slideLayout5.xml" Id="Red1dba80b54a4e33" /><Relationship Type="http://schemas.openxmlformats.org/officeDocument/2006/relationships/slideLayout" Target="/ppt/slideLayouts/slideLayout6.xml" Id="Re19aed872b4b4c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c8268ffe984c2b"/>
    <p:sldLayoutId xmlns:r="http://schemas.openxmlformats.org/officeDocument/2006/relationships" id="2147483650" r:id="R32890cd1558c4e94"/>
    <p:sldLayoutId xmlns:r="http://schemas.openxmlformats.org/officeDocument/2006/relationships" id="2147483651" r:id="R52523208641a4289"/>
    <p:sldLayoutId xmlns:r="http://schemas.openxmlformats.org/officeDocument/2006/relationships" id="2147483652" r:id="R9d67ddd4ef8c4222"/>
    <p:sldLayoutId xmlns:r="http://schemas.openxmlformats.org/officeDocument/2006/relationships" id="2147483653" r:id="Red1dba80b54a4e33"/>
    <p:sldLayoutId xmlns:r="http://schemas.openxmlformats.org/officeDocument/2006/relationships" id="2147483654" r:id="Re19aed872b4b4c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d9a336e2e04c17" /><Relationship Type="http://schemas.openxmlformats.org/officeDocument/2006/relationships/image" Target="/ppt/media/image.png" Id="R774c909c38c24f63" /><Relationship Type="http://schemas.openxmlformats.org/officeDocument/2006/relationships/notesSlide" Target="/ppt/notesSlides/notesSlide1.xml" Id="Rb730fad52b464e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2848f803a44a87" /><Relationship Type="http://schemas.openxmlformats.org/officeDocument/2006/relationships/notesSlide" Target="/ppt/notesSlides/notesSlide2.xml" Id="Rc593440a160a4d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ef1cd616594e1f" /><Relationship Type="http://schemas.openxmlformats.org/officeDocument/2006/relationships/notesSlide" Target="/ppt/notesSlides/notesSlide3.xml" Id="Rc99531b6a64c4a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e334dffffc49f5" /><Relationship Type="http://schemas.openxmlformats.org/officeDocument/2006/relationships/notesSlide" Target="/ppt/notesSlides/notesSlide4.xml" Id="R62181fcacec244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8abec096194605" /><Relationship Type="http://schemas.openxmlformats.org/officeDocument/2006/relationships/notesSlide" Target="/ppt/notesSlides/notesSlide5.xml" Id="R66f2c04165cc46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35aa96fca241f1" /><Relationship Type="http://schemas.openxmlformats.org/officeDocument/2006/relationships/notesSlide" Target="/ppt/notesSlides/notesSlide6.xml" Id="R60c3b2e9817546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40947b56234a05" /><Relationship Type="http://schemas.openxmlformats.org/officeDocument/2006/relationships/notesSlide" Target="/ppt/notesSlides/notesSlide7.xml" Id="R256cf26d393e4f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d16b3da9d5493f" /><Relationship Type="http://schemas.openxmlformats.org/officeDocument/2006/relationships/notesSlide" Target="/ppt/notesSlides/notesSlide8.xml" Id="R5217bc7a5c4e4a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75c85fa46c4f93" /><Relationship Type="http://schemas.openxmlformats.org/officeDocument/2006/relationships/notesSlide" Target="/ppt/notesSlides/notesSlide9.xml" Id="R5a6ad5f1fa6240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f1653b074f47b9" /><Relationship Type="http://schemas.openxmlformats.org/officeDocument/2006/relationships/notesSlide" Target="/ppt/notesSlides/notesSlide10.xml" Id="Rb381f5320fa740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6D2BA-B34A-425E-A720-24212E9E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67F95-82C5-4F03-B056-03A35ADC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70489-E539-4009-869B-B92D28F7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3B976-E1AE-44F8-AD0D-B2AD71D3D4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c909c38c24f6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3314A-6DCF-449B-899A-FF7B9D61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6000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000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EDF4F8"/>
                </a:solidFill>
                <a:latin typeface="Arial"/>
                <a:ea typeface="Arial"/>
                <a:cs typeface="Arial"/>
              </a:rPr>
              <a:t>Protocol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65763-8A1F-4D7F-8754-849635F6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Исследование бинарных</a:t>
            </a:r>
          </a:p>
          <a:p xmlns:a="http://schemas.openxmlformats.org/drawingml/2006/main">
            <a:pPr>
              <a:defRPr sz="330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TCP-протоколов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C1431-1613-4188-9057-98815D69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619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Проверяемые интерпретации</a:t>
            </a:r>
          </a:p>
          <a:p xmlns:a="http://schemas.openxmlformats.org/drawingml/2006/main">
            <a:pPr>
              <a:defRPr sz="2100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на основе исходного сетевого обмена</a:t>
            </a:r>
          </a:p>
        </p:txBody>
      </p:sp>
    </p:spTree>
    <p:extLst>
      <p:ext uri="{BB962C8B-B14F-4D97-AF65-F5344CB8AC3E}">
        <p14:creationId xmlns:p14="http://schemas.microsoft.com/office/powerpoint/2010/main" val="12425243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AD5E0-F7F8-45A2-812A-FDDE440D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D7CB"/>
                </a:solidFill>
                <a:latin typeface="Arial"/>
                <a:ea typeface="Arial"/>
                <a:cs typeface="Arial"/>
              </a:rPr>
              <a:t>ПОДХОД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7B825-28FA-4F9A-84F2-E36E6F9F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DF4F8"/>
                </a:solidFill>
                <a:latin typeface="Arial"/>
                <a:ea typeface="Arial"/>
                <a:cs typeface="Arial"/>
              </a:rPr>
              <a:t>Метод исследования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7C22D-8A4A-4787-AA31-91FE7E82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FFD6F-3059-4644-AE6D-A0C1E640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DF4F8"/>
                </a:solidFill>
                <a:latin typeface="Arial"/>
                <a:ea typeface="Arial"/>
                <a:cs typeface="Arial"/>
              </a:rPr>
              <a:t>1. Наблюдение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EAD94-C0C8-458C-A67D-C7E07998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Сравнение байтов и действий с разными параметрами.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81DED-DF41-4F19-AA5B-793D71ED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DF4F8"/>
                </a:solidFill>
                <a:latin typeface="Arial"/>
                <a:ea typeface="Arial"/>
                <a:cs typeface="Arial"/>
              </a:rPr>
              <a:t>2. Проверяемое правило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61D17-37D3-4883-9761-CB22DE25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Явные границы, поля и условия применимости.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1EC04-ECA2-4231-9132-A6AB9A9E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DF4F8"/>
                </a:solidFill>
                <a:latin typeface="Arial"/>
                <a:ea typeface="Arial"/>
                <a:cs typeface="Arial"/>
              </a:rPr>
              <a:t>3. Проверка и уточнение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F42C2-7EFD-46E9-8BE8-39182B2B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Контрпример ведёт к новой версии и повторному запуску.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6ED68-61DB-41D0-81E8-6F275782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3D7CB"/>
                </a:solidFill>
                <a:latin typeface="Arial"/>
                <a:ea typeface="Arial"/>
                <a:cs typeface="Arial"/>
              </a:rPr>
              <a:t>Поиск</a:t>
            </a:r>
          </a:p>
          <a:p xmlns:a="http://schemas.openxmlformats.org/drawingml/2006/main">
            <a:pPr>
              <a:defRPr sz="36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3D7CB"/>
                </a:solidFill>
                <a:latin typeface="Arial"/>
                <a:ea typeface="Arial"/>
                <a:cs typeface="Arial"/>
              </a:rPr>
              <a:t>кандидатов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8FA4A-1032-4363-8549-9B0E1F4A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Повторы, энтропия, длины, счётчики и CRC помогают выбрать гипотезу.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6F2DE-0636-43B8-9B73-98CEF5E2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86375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Смысл поля остаётся предположением до независимой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11902862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D4306-6EE2-4FF3-9CB6-CCABB060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D7CB"/>
                </a:solidFill>
                <a:latin typeface="Arial"/>
                <a:ea typeface="Arial"/>
                <a:cs typeface="Arial"/>
              </a:rPr>
              <a:t>R1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A3A52-9A9E-416D-825D-BF0A8375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DF4F8"/>
                </a:solidFill>
                <a:latin typeface="Arial"/>
                <a:ea typeface="Arial"/>
                <a:cs typeface="Arial"/>
              </a:rPr>
              <a:t>Исходный обмен и точные источники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A28E4-9408-428D-8158-BD2D28C4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1E254-5998-4C9D-A248-93227912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DF4F8"/>
                </a:solidFill>
                <a:latin typeface="Arial"/>
                <a:ea typeface="Arial"/>
                <a:cs typeface="Arial"/>
              </a:rPr>
              <a:t>Импорт PCAP и PCAPNG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0ED7D-51D9-4E5F-BD19-7888DF13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Оригинал, SHA-256, конкретное соединение и направление.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A7389-A107-49CA-893F-737E0A64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DF4F8"/>
                </a:solidFill>
                <a:latin typeface="Arial"/>
                <a:ea typeface="Arial"/>
                <a:cs typeface="Arial"/>
              </a:rPr>
              <a:t>Восстановление TCP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B5759-762D-4214-A691-D7C33104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Порядок sequence numbers, повторы, SYN/FIN и wrap.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AE80E-53BA-496E-8526-594581F9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DF4F8"/>
                </a:solidFill>
                <a:latin typeface="Arial"/>
                <a:ea typeface="Arial"/>
                <a:cs typeface="Arial"/>
              </a:rPr>
              <a:t>Переход к источнику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80130-828C-4EBD-9FA0-90127879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Поле или диапазон потока связан с пакетами и их байтами.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8072CA-0847-4F56-9B7B-7E170F51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3D7CB"/>
                </a:solidFill>
                <a:latin typeface="Arial"/>
                <a:ea typeface="Arial"/>
                <a:cs typeface="Arial"/>
              </a:rPr>
              <a:t>Пробелы</a:t>
            </a:r>
          </a:p>
          <a:p xmlns:a="http://schemas.openxmlformats.org/drawingml/2006/main">
            <a:pPr>
              <a:defRPr sz="36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3D7CB"/>
                </a:solidFill>
                <a:latin typeface="Arial"/>
                <a:ea typeface="Arial"/>
                <a:cs typeface="Arial"/>
              </a:rPr>
              <a:t>видны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86335-5F0D-4AD7-9828-9D9C2ED4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Пропуски, усечение и конфликтующие байты имеют явную диагностику.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604C5-A80F-488B-80A6-9B8FCAEC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86375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Границы TCP-сегментов не задают границы сообщений.</a:t>
            </a:r>
          </a:p>
        </p:txBody>
      </p:sp>
    </p:spTree>
    <p:extLst>
      <p:ext uri="{BB962C8B-B14F-4D97-AF65-F5344CB8AC3E}">
        <p14:creationId xmlns:p14="http://schemas.microsoft.com/office/powerpoint/2010/main" val="15127894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37D91-A7CD-4D4B-AC93-4A34D906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D7CB"/>
                </a:solidFill>
                <a:latin typeface="Arial"/>
                <a:ea typeface="Arial"/>
                <a:cs typeface="Arial"/>
              </a:rPr>
              <a:t>R2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9FD44-F5A5-4F1D-8FE9-DF528C92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DF4F8"/>
                </a:solidFill>
                <a:latin typeface="Arial"/>
                <a:ea typeface="Arial"/>
                <a:cs typeface="Arial"/>
              </a:rPr>
              <a:t>Сопоставление действий и байтов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A157C-DA78-4A2C-9114-9F9A6BE7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89BD0-915E-45A8-A9A8-57390FEF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DF4F8"/>
                </a:solidFill>
                <a:latin typeface="Arial"/>
                <a:ea typeface="Arial"/>
                <a:cs typeface="Arial"/>
              </a:rPr>
              <a:t>HEX / ASCII и поиск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8A85F-02F4-48B2-9F95-9BE781C1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Исходные байты доступны для непосредственной сверки.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81E50-73DB-4A81-8E5F-C83373EE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DF4F8"/>
                </a:solidFill>
                <a:latin typeface="Arial"/>
                <a:ea typeface="Arial"/>
                <a:cs typeface="Arial"/>
              </a:rPr>
              <a:t>Сравнение примеров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67D2F-9298-4555-ABE5-0F9E072F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Различия и повторения при изменении параметра действия.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92569-4A3F-41E8-8601-F316EFF0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DF4F8"/>
                </a:solidFill>
                <a:latin typeface="Arial"/>
                <a:ea typeface="Arial"/>
                <a:cs typeface="Arial"/>
              </a:rPr>
              <a:t>Журнал действий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B406F-9DF3-45DB-A0E8-7215798B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CSV/JSON, поправка часов и связи с диапазонами обмена.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746C1-FBA8-4C63-A51D-78EC83BE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3D7CB"/>
                </a:solidFill>
                <a:latin typeface="Arial"/>
                <a:ea typeface="Arial"/>
                <a:cs typeface="Arial"/>
              </a:rPr>
              <a:t>Наблюдение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69B04-22C9-4592-90A3-43857B7D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«При изменении параметра изменились эти байты».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2613F-25AB-425B-8BFD-F83084B4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86375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Гипотеза о назначении поля хранит обоснование и ссылки на примеры.</a:t>
            </a:r>
          </a:p>
        </p:txBody>
      </p:sp>
    </p:spTree>
    <p:extLst>
      <p:ext uri="{BB962C8B-B14F-4D97-AF65-F5344CB8AC3E}">
        <p14:creationId xmlns:p14="http://schemas.microsoft.com/office/powerpoint/2010/main" val="13237497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8A628-E758-4B5D-B5C2-28F59B38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D7CB"/>
                </a:solidFill>
                <a:latin typeface="Arial"/>
                <a:ea typeface="Arial"/>
                <a:cs typeface="Arial"/>
              </a:rPr>
              <a:t>R3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67121-74BB-425C-9EA5-82E6F671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DF4F8"/>
                </a:solidFill>
                <a:latin typeface="Arial"/>
                <a:ea typeface="Arial"/>
                <a:cs typeface="Arial"/>
              </a:rPr>
              <a:t>Исполняемая модель протокола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BD55A-CF12-44E3-B816-287C75C0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76D70-FD00-4322-A958-73D1B621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3D7CB"/>
                </a:solidFill>
                <a:latin typeface="Arial"/>
                <a:ea typeface="Arial"/>
                <a:cs typeface="Arial"/>
              </a:rPr>
              <a:t>Границы сообщений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F1CE9-76FB-4092-B238-7FB928F8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514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Ручные диапазоны</a:t>
            </a:r>
          </a:p>
          <a:p xmlns:a="http://schemas.openxmlformats.org/drawingml/2006/main">
            <a:pPr>
              <a:defRPr sz="2175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Фиксированный размер</a:t>
            </a:r>
          </a:p>
          <a:p xmlns:a="http://schemas.openxmlformats.org/drawingml/2006/main">
            <a:pPr>
              <a:defRPr sz="2175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Поле длины</a:t>
            </a:r>
          </a:p>
          <a:p xmlns:a="http://schemas.openxmlformats.org/drawingml/2006/main">
            <a:pPr>
              <a:defRPr sz="2175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Начальные и конечные маркеры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DDB4F9-EF74-4A33-8164-D5C0DF38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509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3D7CB"/>
                </a:solidFill>
                <a:latin typeface="Arial"/>
                <a:ea typeface="Arial"/>
                <a:cs typeface="Arial"/>
              </a:rPr>
              <a:t>Поля и проверки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EBCC1-F14D-4EF8-9F4D-072108A7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90825"/>
            <a:ext cx="5095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Целые числа и порядок байтов</a:t>
            </a:r>
          </a:p>
          <a:p xmlns:a="http://schemas.openxmlformats.org/drawingml/2006/main">
            <a:pPr>
              <a:defRPr sz="2175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Данные переменной длины</a:t>
            </a:r>
          </a:p>
          <a:p xmlns:a="http://schemas.openxmlformats.org/drawingml/2006/main">
            <a:pPr>
              <a:defRPr sz="2175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Массивы и условные ветви</a:t>
            </a:r>
          </a:p>
          <a:p xmlns:a="http://schemas.openxmlformats.org/drawingml/2006/main">
            <a:pPr>
              <a:defRPr sz="2175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Константы, диапазоны и checksum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4A27A-9E93-4708-B92E-10087D07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Версионный JSON и общий движок применяют правила к новым записям.</a:t>
            </a:r>
          </a:p>
          <a:p xmlns:a="http://schemas.openxmlformats.org/drawingml/2006/main">
            <a:pPr>
              <a:defRPr sz="202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Неизвестные участки и семантические гипотезы остаются различимы.</a:t>
            </a:r>
          </a:p>
        </p:txBody>
      </p:sp>
    </p:spTree>
    <p:extLst>
      <p:ext uri="{BB962C8B-B14F-4D97-AF65-F5344CB8AC3E}">
        <p14:creationId xmlns:p14="http://schemas.microsoft.com/office/powerpoint/2010/main" val="9114563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54EBC-5E78-4340-BC9B-DB198128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D7CB"/>
                </a:solidFill>
                <a:latin typeface="Arial"/>
                <a:ea typeface="Arial"/>
                <a:cs typeface="Arial"/>
              </a:rPr>
              <a:t>R4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ED086-8B68-443F-9F7C-B490B236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DF4F8"/>
                </a:solidFill>
                <a:latin typeface="Arial"/>
                <a:ea typeface="Arial"/>
                <a:cs typeface="Arial"/>
              </a:rPr>
              <a:t>Проверка корпуса и контрпримеры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F1BBF-5AF3-4B5F-AA1C-2BFAD889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28CA4-4793-46C8-A57C-9013948D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3D7CB"/>
                </a:solidFill>
                <a:latin typeface="Arial"/>
                <a:ea typeface="Arial"/>
                <a:cs typeface="Arial"/>
              </a:rPr>
              <a:t>Весь выбранный набор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2CC35-75E8-432E-8D34-B65E6E8E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681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passed  /  failed  /  unknown</a:t>
            </a:r>
          </a:p>
          <a:p xmlns:a="http://schemas.openxmlformats.org/drawingml/2006/main">
            <a:pPr>
              <a:defRPr sz="2175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ambiguous  /  not_applicable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E606F-9DA2-46FC-B27A-D7E6FA1D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Видны фильтры, непокрытые байты и неполные данные.</a:t>
            </a:r>
          </a:p>
          <a:p xmlns:a="http://schemas.openxmlformats.org/drawingml/2006/main">
            <a:pPr>
              <a:defRPr sz="210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Каждый контрпример открывает исходный диапазон.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B2C92-3EE0-4D9E-93A9-E91EE8F8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676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Новая версия модели делает старый запуск устаревшим.</a:t>
            </a:r>
          </a:p>
          <a:p xmlns:a="http://schemas.openxmlformats.org/drawingml/2006/main">
            <a: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Повторная проверка показывает изменение результата.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760E0-F143-4B28-BA00-2907BF18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3D7CB"/>
                </a:solidFill>
                <a:latin typeface="Arial"/>
                <a:ea typeface="Arial"/>
                <a:cs typeface="Arial"/>
              </a:rPr>
              <a:t>1 passed</a:t>
            </a:r>
          </a:p>
          <a:p xmlns:a="http://schemas.openxmlformats.org/drawingml/2006/main">
            <a:pPr>
              <a:defRPr sz="36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3D7CB"/>
                </a:solidFill>
                <a:latin typeface="Arial"/>
                <a:ea typeface="Arial"/>
                <a:cs typeface="Arial"/>
              </a:rPr>
              <a:t>2 failed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DC3665-8F96-4D12-BA45-33AF18F9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Тестовая модель требует n = 3. Другие длины выявляют слишком узкое правило.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3233D-7F38-4A59-A4A0-057C0C64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86375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Пример из тестового корпуса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7477249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741BC2-A41D-4C9D-B2DF-28731F6C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D7CB"/>
                </a:solidFill>
                <a:latin typeface="Arial"/>
                <a:ea typeface="Arial"/>
                <a:cs typeface="Arial"/>
              </a:rPr>
              <a:t>R5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EAE57-7257-42B4-A0F1-7A6D2624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DF4F8"/>
                </a:solidFill>
                <a:latin typeface="Arial"/>
                <a:ea typeface="Arial"/>
                <a:cs typeface="Arial"/>
              </a:rPr>
              <a:t>Переносимое исследование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4BE5D-FA5C-49ED-9C56-289FB9EA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124DA-A505-4D16-90BC-4D919C73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DF4F8"/>
                </a:solidFill>
                <a:latin typeface="Arial"/>
                <a:ea typeface="Arial"/>
                <a:cs typeface="Arial"/>
              </a:rPr>
              <a:t>Полный архив проекта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E8EED-333B-4788-9B13-E524433A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Оригиналы, модели, настройки, наблюдения и результаты.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D7190-7055-4E06-897A-7028BD06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DF4F8"/>
                </a:solidFill>
                <a:latin typeface="Arial"/>
                <a:ea typeface="Arial"/>
                <a:cs typeface="Arial"/>
              </a:rPr>
              <a:t>История и доказательства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DC18A-09E8-4DAB-88AD-463D8D2B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Версии, ссылки на источники и состояние актуальности.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23746-5DF0-46B8-996E-5BC1BD82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DF4F8"/>
                </a:solidFill>
                <a:latin typeface="Arial"/>
                <a:ea typeface="Arial"/>
                <a:cs typeface="Arial"/>
              </a:rPr>
              <a:t>Восстановление на другом месте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79840-6AF2-439D-BB36-1BF55D76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Относительные пути, manifest и проверка SHA-256.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6D9C2-1E3D-4460-8601-479A4C71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3D7CB"/>
                </a:solidFill>
                <a:latin typeface="Arial"/>
                <a:ea typeface="Arial"/>
                <a:cs typeface="Arial"/>
              </a:rPr>
              <a:t>ZIP</a:t>
            </a:r>
          </a:p>
          <a:p xmlns:a="http://schemas.openxmlformats.org/drawingml/2006/main">
            <a:pPr>
              <a:defRPr sz="36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3D7CB"/>
                </a:solidFill>
                <a:latin typeface="Arial"/>
                <a:ea typeface="Arial"/>
                <a:cs typeface="Arial"/>
              </a:rPr>
              <a:t>+ snapshot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DC3F8-E35C-42EF-95BF-12057C35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Согласованный снимок данных PostgreSQL входит в архив.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5D7AD8-0FE3-41A1-AC94-2B9999E7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86375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На новой машине нужны локальная БД, зависимости и совместимые миграции.</a:t>
            </a:r>
          </a:p>
        </p:txBody>
      </p:sp>
    </p:spTree>
    <p:extLst>
      <p:ext uri="{BB962C8B-B14F-4D97-AF65-F5344CB8AC3E}">
        <p14:creationId xmlns:p14="http://schemas.microsoft.com/office/powerpoint/2010/main" val="6602576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F9314-7C83-4142-899F-24E050F2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D7CB"/>
                </a:solidFill>
                <a:latin typeface="Arial"/>
                <a:ea typeface="Arial"/>
                <a:cs typeface="Arial"/>
              </a:rPr>
              <a:t>R6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F5CC2-93B0-4CAF-B1A9-63A0723C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DF4F8"/>
                </a:solidFill>
                <a:latin typeface="Arial"/>
                <a:ea typeface="Arial"/>
                <a:cs typeface="Arial"/>
              </a:rPr>
              <a:t>Отчёт и применение к новой записи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D9509-1CC7-4724-8C8D-47D64AF5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03336-78B7-445E-B7BC-EB0F3A18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3D7CB"/>
                </a:solidFill>
                <a:latin typeface="Arial"/>
                <a:ea typeface="Arial"/>
                <a:cs typeface="Arial"/>
              </a:rPr>
              <a:t>Отчёт Markdown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99824-EDDF-4290-85B8-A6010072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5143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Основания выводов, примеры,</a:t>
            </a:r>
          </a:p>
          <a:p xmlns:a="http://schemas.openxmlformats.org/drawingml/2006/main">
            <a:pPr>
              <a:defRPr sz="210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контрпримеры и открытые вопросы.</a:t>
            </a:r>
          </a:p>
          <a:p xmlns:a="http://schemas.openxmlformats.org/drawingml/2006/main">
            <a:pPr>
              <a:defRPr sz="210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Явная область применимости.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9DCAF-2F8C-4226-AC21-E5A6AA5B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509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3D7CB"/>
                </a:solidFill>
                <a:latin typeface="Arial"/>
                <a:ea typeface="Arial"/>
                <a:cs typeface="Arial"/>
              </a:rPr>
              <a:t>Модель и результаты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42BA35-C396-47B4-A643-CBDAE86D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Одна интерпретация для новых записей.</a:t>
            </a:r>
          </a:p>
          <a:p xmlns:a="http://schemas.openxmlformats.org/drawingml/2006/main">
            <a:pPr>
              <a:defRPr sz="210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GUI и CLI используют общий движок</a:t>
            </a:r>
          </a:p>
          <a:p xmlns:a="http://schemas.openxmlformats.org/drawingml/2006/main">
            <a:pPr>
              <a:defRPr sz="210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разбора и диагностики.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92E13-29E9-4745-82DE-E61395F4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D7CB"/>
                </a:solidFill>
                <a:latin typeface="Arial"/>
                <a:ea typeface="Arial"/>
                <a:cs typeface="Arial"/>
              </a:rPr>
              <a:t>uv run --project backend --frozen protocol-lab apply</a:t>
            </a:r>
          </a:p>
          <a:p xmlns:a="http://schemas.openxmlformats.org/drawingml/2006/main">
            <a:pPr>
              <a:defRPr sz="1875" b="0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D7CB"/>
                </a:solidFill>
                <a:latin typeface="Arial"/>
                <a:ea typeface="Arial"/>
                <a:cs typeface="Arial"/>
              </a:rPr>
              <a:t>  --model model.json --capture new.pcap --output result.json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68915-1FD0-47CB-AB86-211A0C31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В репозитории есть входные примеры и ожидаемые результаты.</a:t>
            </a:r>
          </a:p>
        </p:txBody>
      </p:sp>
    </p:spTree>
    <p:extLst>
      <p:ext uri="{BB962C8B-B14F-4D97-AF65-F5344CB8AC3E}">
        <p14:creationId xmlns:p14="http://schemas.microsoft.com/office/powerpoint/2010/main" val="9882494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B94EC9-42DA-408D-86AC-B4D1A2FD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D7CB"/>
                </a:solidFill>
                <a:latin typeface="Arial"/>
                <a:ea typeface="Arial"/>
                <a:cs typeface="Arial"/>
              </a:rPr>
              <a:t>РЕАЛИЗАЦИЯ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01034-DA8B-48A0-9741-2F6114A9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DF4F8"/>
                </a:solidFill>
                <a:latin typeface="Arial"/>
                <a:ea typeface="Arial"/>
                <a:cs typeface="Arial"/>
              </a:rPr>
              <a:t>Локальная архитектура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54360-9572-4FA3-A735-C28D28C2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83923-DB51-4FA6-9248-08525AD2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3D7CB"/>
                </a:solidFill>
                <a:latin typeface="Arial"/>
                <a:ea typeface="Arial"/>
                <a:cs typeface="Arial"/>
              </a:rPr>
              <a:t>Интерфейс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839A8-5B01-453E-AD39-CEDA1445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76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React / TypeScript, HEX, Monaco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9E8C2-AD57-4F80-B666-9B1FF488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3D7CB"/>
                </a:solidFill>
                <a:latin typeface="Arial"/>
                <a:ea typeface="Arial"/>
                <a:cs typeface="Arial"/>
              </a:rPr>
              <a:t>API и фоновые задачи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56C80-A513-43CC-827F-84B1E456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62275"/>
            <a:ext cx="676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FastAPI, локальные процессы, SSE и отмена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B5668-00AC-4353-89DF-D027C096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3D7CB"/>
                </a:solidFill>
                <a:latin typeface="Arial"/>
                <a:ea typeface="Arial"/>
                <a:cs typeface="Arial"/>
              </a:rPr>
              <a:t>Общее ядро GUI / CLI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B6782-CC15-4A6A-9B78-A8B742FE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29050"/>
            <a:ext cx="676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dpkt, TCP, framing, Construct,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BBF44-D68D-45A2-99C5-82E6D7BD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3D7CB"/>
                </a:solidFill>
                <a:latin typeface="Arial"/>
                <a:ea typeface="Arial"/>
                <a:cs typeface="Arial"/>
              </a:rPr>
              <a:t>Хранение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04687-AF71-46D0-8D3D-5B7DF5D2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95825"/>
            <a:ext cx="676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PostgreSQL и файлы под корнем проекта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8F2EF-CCBB-44A6-9250-2FED595E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После установки зависимостей исследование работает без сети.</a:t>
            </a:r>
          </a:p>
          <a:p xmlns:a="http://schemas.openxmlformats.org/drawingml/2006/main">
            <a:pPr>
              <a:defRPr sz="18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Исходные записи остаются на локальной машине.</a:t>
            </a:r>
          </a:p>
        </p:txBody>
      </p:sp>
    </p:spTree>
    <p:extLst>
      <p:ext uri="{BB962C8B-B14F-4D97-AF65-F5344CB8AC3E}">
        <p14:creationId xmlns:p14="http://schemas.microsoft.com/office/powerpoint/2010/main" val="14941779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E0AA5-DAE2-4DD4-833C-52855EB8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D7CB"/>
                </a:solidFill>
                <a:latin typeface="Arial"/>
                <a:ea typeface="Arial"/>
                <a:cs typeface="Arial"/>
              </a:rPr>
              <a:t>РЕЗУЛЬТАТ И ГРАНИЦЫ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5BC46-2DF5-459F-89C6-9FB989DB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DF4F8"/>
                </a:solidFill>
                <a:latin typeface="Arial"/>
                <a:ea typeface="Arial"/>
                <a:cs typeface="Arial"/>
              </a:rPr>
              <a:t>Демонстрация полного цикла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68D9E-A0B2-4051-AE88-65781703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353C5-3DE5-49A1-B441-0A798DDA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7143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01   Импорт записи и журнала действий</a:t>
            </a:r>
          </a:p>
          <a:p xmlns:a="http://schemas.openxmlformats.org/drawingml/2006/main">
            <a:pPr>
              <a:defRPr sz="225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02   Сравнение примеров и гипотеза</a:t>
            </a:r>
          </a:p>
          <a:p xmlns:a="http://schemas.openxmlformats.org/drawingml/2006/main">
            <a:pPr>
              <a:defRPr sz="225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03   Модель и проверка выбранного корпуса</a:t>
            </a:r>
          </a:p>
          <a:p xmlns:a="http://schemas.openxmlformats.org/drawingml/2006/main">
            <a:pPr>
              <a:defRPr sz="225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04   Контрпример, новая версия, повтор</a:t>
            </a:r>
          </a:p>
          <a:p xmlns:a="http://schemas.openxmlformats.org/drawingml/2006/main">
            <a:pPr>
              <a:defRPr sz="225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05   Перенос проекта и CLI на новой записи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A32F4-E9D0-4FEC-B44E-FBBDB1F6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240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53D7C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3D7CB"/>
                </a:solidFill>
                <a:latin typeface="Arial"/>
                <a:ea typeface="Arial"/>
                <a:cs typeface="Arial"/>
              </a:rPr>
              <a:t>Область работы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12724-A3BE-4C26-B2D0-18E5F68D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86050"/>
            <a:ext cx="323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Незашифрованные</a:t>
            </a:r>
          </a:p>
          <a:p xmlns:a="http://schemas.openxmlformats.org/drawingml/2006/main">
            <a:pPr>
              <a:defRPr sz="210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бинарные TCP/IPv4</a:t>
            </a:r>
          </a:p>
          <a:p xmlns:a="http://schemas.openxmlformats.org/drawingml/2006/main">
            <a:pPr>
              <a:defRPr sz="2100" b="0">
                <a:solidFill>
                  <a:srgbClr val="EDF4F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F4F8"/>
                </a:solidFill>
                <a:latin typeface="Arial"/>
                <a:ea typeface="Arial"/>
                <a:cs typeface="Arial"/>
              </a:rPr>
              <a:t>протоколы.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1E52E-3D84-40E5-87E7-A70C52DC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33875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IPv6, live capture,</a:t>
            </a:r>
          </a:p>
          <a:p xmlns:a="http://schemas.openxmlformats.org/drawingml/2006/main">
            <a:pPr>
              <a:defRPr sz="1800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дешифрование и распаковка</a:t>
            </a:r>
          </a:p>
          <a:p xmlns:a="http://schemas.openxmlformats.org/drawingml/2006/main">
            <a:pPr>
              <a:defRPr sz="1800" b="0">
                <a:solidFill>
                  <a:srgbClr val="B2C5D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2C5D2"/>
                </a:solidFill>
                <a:latin typeface="Arial"/>
                <a:ea typeface="Arial"/>
                <a:cs typeface="Arial"/>
              </a:rPr>
              <a:t>вне базового объёма.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38B80-73D2-4417-8F96-79D2F769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714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F7BD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7BD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7BD66"/>
                </a:solidFill>
                <a:latin typeface="Arial"/>
                <a:ea typeface="Arial"/>
                <a:cs typeface="Arial"/>
              </a:rPr>
              <a:t>Технические лимиты указаны отдельно от свойств протокола.</a:t>
            </a:r>
          </a:p>
          <a:p xmlns:a="http://schemas.openxmlformats.org/drawingml/2006/main">
            <a:pPr>
              <a:defRPr sz="1800" b="0">
                <a:solidFill>
                  <a:srgbClr val="F7BD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7BD66"/>
                </a:solidFill>
                <a:latin typeface="Arial"/>
                <a:ea typeface="Arial"/>
                <a:cs typeface="Arial"/>
              </a:rPr>
              <a:t>Полный native Linux профиль производительности ещё требует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13394693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2026-10-16T06:50:59.3070000Z</dcterms:created>
  <dcterms:modified xsi:type="dcterms:W3CDTF">2026-10-16T06:50:59.3070000Z</dcterms:modified>
</coreProperties>
</file>